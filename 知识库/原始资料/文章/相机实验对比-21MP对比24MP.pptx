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1.png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2.png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image" Target="../media/image3.png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4.png"/><Relationship Id="rId1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922655"/>
            <a:ext cx="9799320" cy="516255"/>
          </a:xfrm>
        </p:spPr>
        <p:txBody>
          <a:bodyPr/>
          <a:p>
            <a:r>
              <a:rPr lang="en-US" altLang="zh-CN" sz="2400"/>
              <a:t>2100</a:t>
            </a:r>
            <a:r>
              <a:rPr lang="zh-CN" altLang="en-US" sz="2400"/>
              <a:t>万相机对比</a:t>
            </a:r>
            <a:r>
              <a:rPr lang="en-US" altLang="zh-CN" sz="2400"/>
              <a:t>2400</a:t>
            </a:r>
            <a:r>
              <a:rPr lang="zh-CN" altLang="en-US" sz="2400"/>
              <a:t>万相机</a:t>
            </a:r>
            <a:r>
              <a:rPr lang="zh-CN" altLang="en-US" sz="2400"/>
              <a:t>拍摄实验</a:t>
            </a: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1482090" y="1783715"/>
            <a:ext cx="720280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拍摄使用镜头均为</a:t>
            </a:r>
            <a:r>
              <a:rPr lang="en-US" altLang="zh-CN"/>
              <a:t>220mm</a:t>
            </a:r>
            <a:r>
              <a:rPr lang="zh-CN" altLang="en-US"/>
              <a:t>焦距，光圈</a:t>
            </a:r>
            <a:r>
              <a:rPr lang="en-US" altLang="zh-CN"/>
              <a:t>f8</a:t>
            </a:r>
            <a:r>
              <a:rPr lang="zh-CN" altLang="en-US"/>
              <a:t>，光源亮度</a:t>
            </a:r>
            <a:r>
              <a:rPr lang="zh-CN" altLang="en-US"/>
              <a:t>相同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相机</a:t>
            </a:r>
            <a:r>
              <a:rPr lang="en-US" altLang="zh-CN"/>
              <a:t>1</a:t>
            </a:r>
            <a:r>
              <a:rPr lang="zh-CN" altLang="en-US"/>
              <a:t>像元尺寸</a:t>
            </a:r>
            <a:r>
              <a:rPr lang="en-US" altLang="zh-CN"/>
              <a:t>4.5μm</a:t>
            </a:r>
            <a:r>
              <a:rPr lang="zh-CN" altLang="en-US"/>
              <a:t>，镜头放大倍率为</a:t>
            </a:r>
            <a:r>
              <a:rPr lang="en-US" altLang="zh-CN"/>
              <a:t>0.68x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zh-CN" altLang="en-US"/>
              <a:t>相机</a:t>
            </a:r>
            <a:r>
              <a:rPr lang="en-US" altLang="zh-CN"/>
              <a:t>2</a:t>
            </a:r>
            <a:r>
              <a:rPr lang="zh-CN" altLang="en-US">
                <a:sym typeface="+mn-ea"/>
              </a:rPr>
              <a:t>像元尺寸</a:t>
            </a:r>
            <a:r>
              <a:rPr lang="en-US" altLang="zh-CN">
                <a:sym typeface="+mn-ea"/>
              </a:rPr>
              <a:t>2.74μm</a:t>
            </a:r>
            <a:r>
              <a:rPr lang="zh-CN" altLang="en-US">
                <a:sym typeface="+mn-ea"/>
              </a:rPr>
              <a:t>，镜头放大倍率为</a:t>
            </a:r>
            <a:r>
              <a:rPr lang="en-US" altLang="zh-CN">
                <a:sym typeface="+mn-ea"/>
              </a:rPr>
              <a:t>0.39x</a:t>
            </a:r>
            <a:endParaRPr lang="en-US" altLang="zh-CN">
              <a:sym typeface="+mn-ea"/>
            </a:endParaRPr>
          </a:p>
          <a:p>
            <a:pPr marL="342900" indent="-342900">
              <a:buAutoNum type="arabicPeriod"/>
            </a:pPr>
            <a:endParaRPr lang="en-US" altLang="zh-CN">
              <a:sym typeface="+mn-ea"/>
            </a:endParaRPr>
          </a:p>
          <a:p>
            <a:pPr marL="342900" indent="-342900">
              <a:buAutoNum type="arabicPeriod"/>
            </a:pPr>
            <a:endParaRPr lang="en-US" altLang="zh-CN">
              <a:sym typeface="+mn-ea"/>
            </a:endParaRPr>
          </a:p>
          <a:p>
            <a:pPr marL="342900" indent="-342900">
              <a:buAutoNum type="arabicPeriod"/>
            </a:pPr>
            <a:endParaRPr lang="en-US" altLang="zh-CN">
              <a:sym typeface="+mn-ea"/>
            </a:endParaRPr>
          </a:p>
          <a:p>
            <a:pPr marL="342900" indent="-342900">
              <a:buAutoNum type="arabicPeriod"/>
            </a:pPr>
            <a:endParaRPr lang="en-US" altLang="zh-CN"/>
          </a:p>
          <a:p>
            <a:pPr marL="342900" indent="-342900">
              <a:buAutoNum type="arabicPeriod"/>
            </a:pPr>
            <a:endParaRPr lang="en-US" altLang="zh-CN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28345" y="627380"/>
            <a:ext cx="10727690" cy="47593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95680" y="55638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当焦点都位于电路板的表面时，由于景深更</a:t>
            </a:r>
            <a:r>
              <a:rPr lang="zh-CN" altLang="en-US"/>
              <a:t>大，右侧更高的地方会</a:t>
            </a:r>
            <a:r>
              <a:rPr lang="zh-CN" altLang="en-US"/>
              <a:t>更清晰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482090" y="916940"/>
            <a:ext cx="1350010" cy="112014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797165" y="824230"/>
            <a:ext cx="1350010" cy="112014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28345" y="8191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zh-CN" altLang="en-US">
                <a:sym typeface="+mn-ea"/>
              </a:rPr>
              <a:t>以下图示左侧为相机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，右侧为</a:t>
            </a:r>
            <a:r>
              <a:rPr lang="zh-CN" altLang="en-US">
                <a:sym typeface="+mn-ea"/>
              </a:rPr>
              <a:t>相机</a:t>
            </a:r>
            <a:r>
              <a:rPr lang="en-US" altLang="zh-CN">
                <a:sym typeface="+mn-ea"/>
              </a:rPr>
              <a:t>2</a:t>
            </a:r>
            <a:endParaRPr lang="en-US" altLang="zh-CN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7015" y="433070"/>
            <a:ext cx="11497310" cy="49701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64565" y="575627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焦点高度在电路板上时，右侧图中元件丝印</a:t>
            </a:r>
            <a:r>
              <a:rPr lang="zh-CN" altLang="en-US"/>
              <a:t>更清晰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417955" y="1569085"/>
            <a:ext cx="698500" cy="155067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741160" y="934085"/>
            <a:ext cx="698500" cy="155067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3045" y="287655"/>
            <a:ext cx="11711305" cy="51085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64565" y="575627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焦点高度在电路板上时，右侧图中元件丝印和</a:t>
            </a:r>
            <a:r>
              <a:rPr lang="zh-CN" altLang="en-US"/>
              <a:t>印刷字体更清晰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064750" y="2026285"/>
            <a:ext cx="725805" cy="72517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747135" y="1914525"/>
            <a:ext cx="725805" cy="72517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608070" y="3547110"/>
            <a:ext cx="865505" cy="92646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34575" y="3647440"/>
            <a:ext cx="798830" cy="82550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53085" y="694690"/>
            <a:ext cx="10968990" cy="45872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64565" y="575627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焦点高度在电路板上时，右侧图中元件丝印</a:t>
            </a:r>
            <a:r>
              <a:rPr lang="zh-CN" altLang="en-US"/>
              <a:t>更清晰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WPS 演示</Application>
  <PresentationFormat>宽屏</PresentationFormat>
  <Paragraphs>21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埃科2100万相机拍摄对比大恒2400万相机实验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月明星稀</cp:lastModifiedBy>
  <cp:revision>164</cp:revision>
  <dcterms:created xsi:type="dcterms:W3CDTF">2019-06-19T02:08:00Z</dcterms:created>
  <dcterms:modified xsi:type="dcterms:W3CDTF">2026-08-14T00:30:40Z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F0E0DB168B2F48BCBFDD361EDF1C4C14_11</vt:lpwstr>
  </property>
</Properties>
</file>